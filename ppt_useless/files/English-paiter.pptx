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5143500" type="screen16x9"/>
  <p:notesSz cx="5143500" cy="9144000"/>
  <p:embeddedFontLst>
    <p:embeddedFont>
      <p:font typeface="Fira Sans" panose="020B0503050000020004" pitchFamily="34" charset="0"/>
      <p:regular r:id="rId13"/>
    </p:embeddedFont>
    <p:embeddedFont>
      <p:font typeface="Fira Sans Bold" panose="020B0803050000020004" charset="0"/>
      <p:regular r:id="rId14"/>
    </p:embeddedFont>
    <p:embeddedFont>
      <p:font typeface="Inconsolata Bold" pitchFamily="1" charset="0"/>
      <p:regular r:id="rId15"/>
      <p:bold r:id="rId16"/>
    </p:embeddedFon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13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0574" y="1"/>
            <a:ext cx="9164574" cy="5149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444" y="1365365"/>
            <a:ext cx="3600450" cy="20716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1445" y="3536116"/>
            <a:ext cx="2873156" cy="11224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1444" y="164592"/>
            <a:ext cx="20278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6580" y="164592"/>
            <a:ext cx="112152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232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3089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30395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8925"/>
            <a:ext cx="9144001" cy="514928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344440"/>
            <a:ext cx="4243851" cy="201851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1698" y="387450"/>
            <a:ext cx="1945361" cy="122091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1699" y="164592"/>
            <a:ext cx="187803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1" y="164592"/>
            <a:ext cx="85978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3161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1714" cy="51435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7883"/>
            <a:ext cx="9141714" cy="1795618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825" y="3347883"/>
            <a:ext cx="2540890" cy="1795618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28242" y="164592"/>
            <a:ext cx="2055462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649571" y="164592"/>
            <a:ext cx="146849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521647" y="164592"/>
            <a:ext cx="336604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26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587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85" y="3233854"/>
            <a:ext cx="6439003" cy="1776225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1992134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4592"/>
            <a:ext cx="143494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4" y="164592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487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9144000" cy="2151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76" y="1604082"/>
            <a:ext cx="4824950" cy="1471612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14975" y="161144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4976" y="1604082"/>
            <a:ext cx="2788815" cy="3082218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092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7487" y="1916813"/>
            <a:ext cx="9144000" cy="3257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139" y="2611285"/>
            <a:ext cx="4122320" cy="1569204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9144000" cy="1916813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246" y="2050551"/>
            <a:ext cx="204549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39176" y="2050551"/>
            <a:ext cx="1190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7461" y="2050551"/>
            <a:ext cx="39502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39176" y="2611285"/>
            <a:ext cx="2937077" cy="2074415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4544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4743451" y="1"/>
            <a:ext cx="4410941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9" y="957742"/>
            <a:ext cx="4033700" cy="739244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563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7721" y="161144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08" y="1853802"/>
            <a:ext cx="4033701" cy="27470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80617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305175"/>
            <a:ext cx="6858000" cy="1838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415034"/>
            <a:ext cx="2630992" cy="2425446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56296"/>
            <a:ext cx="1899089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00550" y="156296"/>
            <a:ext cx="15131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441" y="156296"/>
            <a:ext cx="414867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0551" y="1415034"/>
            <a:ext cx="3371850" cy="24254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291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27" y="836676"/>
            <a:ext cx="1878948" cy="121809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013036" cy="253746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30548" y="161867"/>
            <a:ext cx="1114425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682" y="161867"/>
            <a:ext cx="411954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1327" y="2271392"/>
            <a:ext cx="1878948" cy="25577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30548" y="885825"/>
            <a:ext cx="6613452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14115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3000375" cy="10143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" y="164592"/>
            <a:ext cx="2045948" cy="25374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5924" y="164592"/>
            <a:ext cx="1310831" cy="253746"/>
          </a:xfrm>
        </p:spPr>
        <p:txBody>
          <a:bodyPr/>
          <a:lstStyle/>
          <a:p>
            <a:fld id="{48B2456C-66BE-435E-8059-3A9CD55F29F9}" type="datetime1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0461" y="162210"/>
            <a:ext cx="413335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5924" y="828675"/>
            <a:ext cx="5193752" cy="1014387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03882"/>
            <a:ext cx="9144000" cy="293961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69686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7"/>
            <a:ext cx="1885950" cy="218918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188595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67811" y="1"/>
            <a:ext cx="6576190" cy="298928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3058221"/>
            <a:ext cx="1440180" cy="253746"/>
          </a:xfrm>
        </p:spPr>
        <p:txBody>
          <a:bodyPr/>
          <a:lstStyle/>
          <a:p>
            <a:fld id="{17409D93-5111-4952-AC4F-FA1AE909A4B8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3058221"/>
            <a:ext cx="416961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3317682"/>
            <a:ext cx="6315075" cy="136861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75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005" y="836677"/>
            <a:ext cx="3935683" cy="7455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4592"/>
            <a:ext cx="2200275" cy="253746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22434" y="156816"/>
            <a:ext cx="138303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0639" y="156816"/>
            <a:ext cx="416961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5825"/>
            <a:ext cx="3935683" cy="425767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1005" y="1600200"/>
            <a:ext cx="3935683" cy="30861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09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3" y="836676"/>
            <a:ext cx="2705753" cy="2377909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326" y="161144"/>
            <a:ext cx="1947830" cy="25374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4432" y="161144"/>
            <a:ext cx="1190033" cy="253746"/>
          </a:xfrm>
        </p:spPr>
        <p:txBody>
          <a:bodyPr/>
          <a:lstStyle/>
          <a:p>
            <a:fld id="{C1935215-257D-4F50-AF56-70E3294947FA}" type="datetime1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208" y="161144"/>
            <a:ext cx="416961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432" y="834504"/>
            <a:ext cx="5195243" cy="1475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7310" y="2625153"/>
            <a:ext cx="5466691" cy="2518348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26306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2571751"/>
            <a:ext cx="1875980" cy="1913987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144000" cy="202882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2148968"/>
            <a:ext cx="2044782" cy="25374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14600" y="2148968"/>
            <a:ext cx="1475509" cy="253746"/>
          </a:xfrm>
        </p:spPr>
        <p:txBody>
          <a:bodyPr/>
          <a:lstStyle/>
          <a:p>
            <a:fld id="{2B0E3CDF-6E7C-4C67-B567-8606B07963A0}" type="datetime1">
              <a:rPr lang="en-US" smtClean="0"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8743" y="2148968"/>
            <a:ext cx="416961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14600" y="2571750"/>
            <a:ext cx="6157653" cy="225742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9243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73" y="836676"/>
            <a:ext cx="2702442" cy="105740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29025" y="156816"/>
            <a:ext cx="1885950" cy="253746"/>
          </a:xfrm>
        </p:spPr>
        <p:txBody>
          <a:bodyPr/>
          <a:lstStyle/>
          <a:p>
            <a:fld id="{5060FE60-4389-4D8B-84BB-900FC000024C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4515" y="164592"/>
            <a:ext cx="423256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673" y="2028825"/>
            <a:ext cx="2702442" cy="277177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01452" y="881743"/>
            <a:ext cx="5442548" cy="4261757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8198318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455719"/>
            <a:ext cx="3314700" cy="123058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35" y="1"/>
            <a:ext cx="3627590" cy="316064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55956" y="156816"/>
            <a:ext cx="2044782" cy="253746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2893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5957" y="828675"/>
            <a:ext cx="4312786" cy="3857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3128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836676"/>
            <a:ext cx="2329001" cy="122738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4295" y="161144"/>
            <a:ext cx="2044782" cy="253746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1641" y="161144"/>
            <a:ext cx="1902741" cy="253746"/>
          </a:xfrm>
        </p:spPr>
        <p:txBody>
          <a:bodyPr/>
          <a:lstStyle/>
          <a:p>
            <a:fld id="{BFCE55E5-7E1C-4243-A685-91A6EB8BE97F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9630" y="161144"/>
            <a:ext cx="416961" cy="253746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263140"/>
            <a:ext cx="2563427" cy="288036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1642" y="828676"/>
            <a:ext cx="5607428" cy="400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400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9144000" cy="514807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0" y="3811784"/>
            <a:ext cx="3000375" cy="876923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29300" y="156816"/>
            <a:ext cx="1478018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0742" y="797719"/>
            <a:ext cx="7821215" cy="263128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74171236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9144000" cy="3602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4325" y="2164205"/>
            <a:ext cx="6600826" cy="2664970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99649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0175" y="3655664"/>
            <a:ext cx="6379925" cy="499820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00175" y="1392072"/>
            <a:ext cx="6379925" cy="2141541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69896985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836676"/>
            <a:ext cx="6286500" cy="52624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09118" y="1425178"/>
            <a:ext cx="3693319" cy="32611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06000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92" y="699073"/>
            <a:ext cx="8126654" cy="5280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0825" y="161144"/>
            <a:ext cx="144018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991" y="1256710"/>
            <a:ext cx="3685439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3850" y="1713766"/>
            <a:ext cx="3675580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4875" y="1256710"/>
            <a:ext cx="372577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551" y="1713766"/>
            <a:ext cx="3737072" cy="29725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695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6285232" cy="6571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3089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9347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5" y="569214"/>
            <a:ext cx="5707251" cy="130115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2028826"/>
            <a:ext cx="6600825" cy="22106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20558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9143999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2028579"/>
            <a:ext cx="4099245" cy="2050038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9163" y="2028825"/>
            <a:ext cx="3307556" cy="1171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803616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80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94" y="835133"/>
            <a:ext cx="7456807" cy="6571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63" y="1600200"/>
            <a:ext cx="7456807" cy="322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295" y="161144"/>
            <a:ext cx="2044782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0825" y="161144"/>
            <a:ext cx="144018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8743" y="161144"/>
            <a:ext cx="416961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84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953" y="-56777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9140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Profession of a Painter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989981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Turning imagination into reality through colors.</a:t>
            </a:r>
            <a:endParaRPr lang="en-US" sz="3850" dirty="0"/>
          </a:p>
        </p:txBody>
      </p:sp>
      <p:sp>
        <p:nvSpPr>
          <p:cNvPr id="5" name="Shape 2"/>
          <p:cNvSpPr/>
          <p:nvPr/>
        </p:nvSpPr>
        <p:spPr>
          <a:xfrm>
            <a:off x="496119" y="4036740"/>
            <a:ext cx="1350466" cy="215354"/>
          </a:xfrm>
          <a:prstGeom prst="roundRect">
            <a:avLst>
              <a:gd name="adj" fmla="val 7900"/>
            </a:avLst>
          </a:prstGeom>
          <a:solidFill>
            <a:srgbClr val="4A022B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4079230"/>
            <a:ext cx="163755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 9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Who is a Painter?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29592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 Artist Who Creates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602432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painter uses colors, brushes, and imagination to create visual art on canvas, walls, paper, or digital screens.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51943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More Than a Hobby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825948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Painting is a respected profession — painters work in galleries, film studios, advertising, and even video games.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4295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 Universal Language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4049464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Art crosses language barriers. A painting can express emotions, tell stories, and capture history without a single word.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34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Types of Painters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80195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Painters specialize in different styles and fields — here are six major types.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6191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67346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Fine Artist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155701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Creates original artwork for galleries and exhibitions.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442" y="1436191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2442" y="1867346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Portrait Artist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52442" y="2155701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Captures the likeness and personality of people.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24361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55516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Landscape Artist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96119" y="334387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Paints natural scenery — mountains, rivers, forests.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2442" y="2624361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2442" y="3055516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Mural Artist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52442" y="334387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Paints large-scale artwork directly on walls and buildings.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12530"/>
            <a:ext cx="270197" cy="2701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43685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Digital Artist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6119" y="4532040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Creates art using software, tablets, and digital tools.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2442" y="3812530"/>
            <a:ext cx="270197" cy="2701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2442" y="4243685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Industrial Painter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652442" y="4532040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Applies paint to structures, vehicles, and products professionally.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35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Skills Every Painter Needs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76623"/>
            <a:ext cx="4607787" cy="355840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71027" y="1048900"/>
            <a:ext cx="3677347" cy="1018092"/>
          </a:xfrm>
          <a:prstGeom prst="roundRect">
            <a:avLst>
              <a:gd name="adj" fmla="val 1712"/>
            </a:avLst>
          </a:prstGeom>
          <a:solidFill>
            <a:srgbClr val="433550"/>
          </a:solidFill>
          <a:ln/>
        </p:spPr>
      </p:sp>
      <p:sp>
        <p:nvSpPr>
          <p:cNvPr id="5" name="Shape 2"/>
          <p:cNvSpPr/>
          <p:nvPr/>
        </p:nvSpPr>
        <p:spPr>
          <a:xfrm>
            <a:off x="5441870" y="1161528"/>
            <a:ext cx="285263" cy="269682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840" y="1212319"/>
            <a:ext cx="183321" cy="16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1868" y="1510849"/>
            <a:ext cx="3518489" cy="259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Creativity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41869" y="1660397"/>
            <a:ext cx="3518488" cy="281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Imagining original ideas and unique compositions.</a:t>
            </a:r>
            <a:endParaRPr lang="en-US" sz="660" dirty="0"/>
          </a:p>
        </p:txBody>
      </p:sp>
      <p:sp>
        <p:nvSpPr>
          <p:cNvPr id="9" name="Shape 5"/>
          <p:cNvSpPr/>
          <p:nvPr/>
        </p:nvSpPr>
        <p:spPr>
          <a:xfrm>
            <a:off x="5371027" y="1777508"/>
            <a:ext cx="3677347" cy="1018092"/>
          </a:xfrm>
          <a:prstGeom prst="roundRect">
            <a:avLst>
              <a:gd name="adj" fmla="val 1712"/>
            </a:avLst>
          </a:prstGeom>
          <a:solidFill>
            <a:srgbClr val="433550"/>
          </a:solidFill>
          <a:ln/>
        </p:spPr>
      </p:sp>
      <p:sp>
        <p:nvSpPr>
          <p:cNvPr id="10" name="Shape 6"/>
          <p:cNvSpPr/>
          <p:nvPr/>
        </p:nvSpPr>
        <p:spPr>
          <a:xfrm>
            <a:off x="5449387" y="1813328"/>
            <a:ext cx="285262" cy="290813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4668" y="1889208"/>
            <a:ext cx="183321" cy="168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1869" y="2114886"/>
            <a:ext cx="3487239" cy="32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Patience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5441869" y="2282667"/>
            <a:ext cx="3487239" cy="26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Art takes time — layering, drying, and refining.</a:t>
            </a:r>
            <a:endParaRPr lang="en-US" sz="660" dirty="0"/>
          </a:p>
        </p:txBody>
      </p:sp>
      <p:sp>
        <p:nvSpPr>
          <p:cNvPr id="14" name="Shape 9"/>
          <p:cNvSpPr/>
          <p:nvPr/>
        </p:nvSpPr>
        <p:spPr>
          <a:xfrm>
            <a:off x="5371027" y="2433840"/>
            <a:ext cx="3677347" cy="1018092"/>
          </a:xfrm>
          <a:prstGeom prst="roundRect">
            <a:avLst>
              <a:gd name="adj" fmla="val 1712"/>
            </a:avLst>
          </a:prstGeom>
          <a:solidFill>
            <a:srgbClr val="433550"/>
          </a:solidFill>
          <a:ln/>
        </p:spPr>
      </p:sp>
      <p:sp>
        <p:nvSpPr>
          <p:cNvPr id="15" name="Shape 10"/>
          <p:cNvSpPr/>
          <p:nvPr/>
        </p:nvSpPr>
        <p:spPr>
          <a:xfrm>
            <a:off x="5441868" y="2528264"/>
            <a:ext cx="285262" cy="273405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838" y="2580716"/>
            <a:ext cx="183321" cy="1681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1869" y="2843494"/>
            <a:ext cx="3487239" cy="24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441869" y="3006543"/>
            <a:ext cx="3487239" cy="165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Noticing light, shadow, and fine details in the world.</a:t>
            </a:r>
            <a:endParaRPr lang="en-US" sz="660" dirty="0"/>
          </a:p>
        </p:txBody>
      </p:sp>
      <p:sp>
        <p:nvSpPr>
          <p:cNvPr id="19" name="Shape 13"/>
          <p:cNvSpPr/>
          <p:nvPr/>
        </p:nvSpPr>
        <p:spPr>
          <a:xfrm>
            <a:off x="5371027" y="3090172"/>
            <a:ext cx="3677347" cy="1018092"/>
          </a:xfrm>
          <a:prstGeom prst="roundRect">
            <a:avLst>
              <a:gd name="adj" fmla="val 1712"/>
            </a:avLst>
          </a:prstGeom>
          <a:solidFill>
            <a:srgbClr val="433550"/>
          </a:solidFill>
          <a:ln/>
        </p:spPr>
      </p:sp>
      <p:sp>
        <p:nvSpPr>
          <p:cNvPr id="20" name="Shape 14"/>
          <p:cNvSpPr/>
          <p:nvPr/>
        </p:nvSpPr>
        <p:spPr>
          <a:xfrm>
            <a:off x="5441871" y="3157416"/>
            <a:ext cx="285262" cy="256995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840" y="3213607"/>
            <a:ext cx="183321" cy="1681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41869" y="3475444"/>
            <a:ext cx="3487239" cy="27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Color Sense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5441869" y="3646947"/>
            <a:ext cx="3487239" cy="21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Understanding how colors blend and create mood.</a:t>
            </a:r>
            <a:endParaRPr lang="en-US" sz="660" dirty="0"/>
          </a:p>
        </p:txBody>
      </p:sp>
      <p:sp>
        <p:nvSpPr>
          <p:cNvPr id="24" name="Shape 17"/>
          <p:cNvSpPr/>
          <p:nvPr/>
        </p:nvSpPr>
        <p:spPr>
          <a:xfrm>
            <a:off x="5371027" y="3746505"/>
            <a:ext cx="3677347" cy="888524"/>
          </a:xfrm>
          <a:prstGeom prst="roundRect">
            <a:avLst>
              <a:gd name="adj" fmla="val 1712"/>
            </a:avLst>
          </a:prstGeom>
          <a:solidFill>
            <a:srgbClr val="433550"/>
          </a:solidFill>
          <a:ln/>
        </p:spPr>
      </p:sp>
      <p:sp>
        <p:nvSpPr>
          <p:cNvPr id="25" name="Shape 18"/>
          <p:cNvSpPr/>
          <p:nvPr/>
        </p:nvSpPr>
        <p:spPr>
          <a:xfrm>
            <a:off x="5440383" y="3849093"/>
            <a:ext cx="285262" cy="282683"/>
          </a:xfrm>
          <a:prstGeom prst="ellipse">
            <a:avLst/>
          </a:prstGeom>
          <a:solidFill>
            <a:srgbClr val="FF668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2840" y="3912631"/>
            <a:ext cx="183321" cy="1681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1869" y="4180290"/>
            <a:ext cx="3487239" cy="22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Drawing Skills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5441869" y="4378455"/>
            <a:ext cx="3487239" cy="13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Sketching forms and proportions before painting.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715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Tools of the Profession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85899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Every painter has a toolkit — from traditional brushes to modern tablets.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16285"/>
            <a:ext cx="1140396" cy="11403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52229"/>
            <a:ext cx="196624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Brushes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2560737"/>
            <a:ext cx="196624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Various shapes and sizes for different strokes and textures.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909" y="1116285"/>
            <a:ext cx="1140396" cy="11403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57909" y="2352229"/>
            <a:ext cx="196631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Canvas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557909" y="2560737"/>
            <a:ext cx="196631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surface on which paintings come to life.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774" y="1116285"/>
            <a:ext cx="1140396" cy="11403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19774" y="2352229"/>
            <a:ext cx="196624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Paints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619774" y="2560737"/>
            <a:ext cx="196624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Oil, acrylic, and watercolor — each with unique properties.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564" y="1116285"/>
            <a:ext cx="1140396" cy="11403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81564" y="2352229"/>
            <a:ext cx="196631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Palette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681564" y="2560737"/>
            <a:ext cx="196631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Used to mix and blend colors before applying to canvas.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002459"/>
            <a:ext cx="1140396" cy="11403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38402"/>
            <a:ext cx="196624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Graphic Tablet &amp; Stylus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96119" y="4446910"/>
            <a:ext cx="196624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Digital tools for modern painters and illustrators.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3239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Why Are Painters Important?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75358"/>
            <a:ext cx="4722763" cy="805681"/>
          </a:xfrm>
          <a:prstGeom prst="roundRect">
            <a:avLst>
              <a:gd name="adj" fmla="val 2598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4064645" y="1214884"/>
            <a:ext cx="444371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🎭</a:t>
            </a: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Culture &amp; History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4645" y="1520056"/>
            <a:ext cx="44437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Paintings preserve traditions, stories, and moments in time.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18407"/>
            <a:ext cx="4722763" cy="805681"/>
          </a:xfrm>
          <a:prstGeom prst="roundRect">
            <a:avLst>
              <a:gd name="adj" fmla="val 2598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4064645" y="2157933"/>
            <a:ext cx="444371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Emotions &amp; Expression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4645" y="2463105"/>
            <a:ext cx="44437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Art communicates feelings words sometimes cannot.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61456"/>
            <a:ext cx="4722763" cy="805681"/>
          </a:xfrm>
          <a:prstGeom prst="roundRect">
            <a:avLst>
              <a:gd name="adj" fmla="val 2598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4064645" y="3100983"/>
            <a:ext cx="444371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Decoration &amp; Design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4645" y="3406155"/>
            <a:ext cx="44437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Paintings beautify homes, offices, and public spaces.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04506"/>
            <a:ext cx="4722763" cy="805681"/>
          </a:xfrm>
          <a:prstGeom prst="roundRect">
            <a:avLst>
              <a:gd name="adj" fmla="val 2598"/>
            </a:avLst>
          </a:prstGeom>
          <a:solidFill>
            <a:srgbClr val="433550"/>
          </a:solidFill>
          <a:ln/>
        </p:spPr>
      </p:sp>
      <p:sp>
        <p:nvSpPr>
          <p:cNvPr id="14" name="Text 11"/>
          <p:cNvSpPr/>
          <p:nvPr/>
        </p:nvSpPr>
        <p:spPr>
          <a:xfrm>
            <a:off x="4064645" y="4044032"/>
            <a:ext cx="444371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🎬</a:t>
            </a: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Films, Games &amp; Ads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4645" y="4349204"/>
            <a:ext cx="44437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Concept artists shape the look of movies, games, and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031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Famous Painters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5834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Legends who changed the world with a brush.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1774"/>
            <a:ext cx="419993" cy="419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7785" y="1571774"/>
            <a:ext cx="131750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Leonardo da Vinci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87785" y="2090217"/>
            <a:ext cx="131750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Painted the </a:t>
            </a:r>
            <a:r>
              <a:rPr lang="en-US" sz="10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Mona Lisa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the most recognized artwork ever.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959" y="1571774"/>
            <a:ext cx="419993" cy="419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68625" y="1571774"/>
            <a:ext cx="131750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Vincent van Gogh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168625" y="2090217"/>
            <a:ext cx="131750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</a:t>
            </a:r>
            <a:r>
              <a:rPr lang="en-US" sz="10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 Starry Night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bold, emotional brushstrokes.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99" y="1571774"/>
            <a:ext cx="419993" cy="4199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49466" y="1571774"/>
            <a:ext cx="131750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Pablo Picasso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249466" y="1872183"/>
            <a:ext cx="131750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Co-founded </a:t>
            </a:r>
            <a:r>
              <a:rPr lang="en-US" sz="10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Cubism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revolutionizing modern art.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640" y="1571774"/>
            <a:ext cx="419993" cy="4199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30306" y="1571774"/>
            <a:ext cx="131757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Raja Ravi Varma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330306" y="1872183"/>
            <a:ext cx="131757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Fused Indian themes with European techniques — a national treasure.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250778"/>
            <a:ext cx="419993" cy="4199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87785" y="3250778"/>
            <a:ext cx="131750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M. F. Husain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87785" y="3551188"/>
            <a:ext cx="131750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India's most celebrated modern artist — known for vibrant, dynamic canvases.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Career Opportunities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Art opens many doors — here's where a painter's skills can take you.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78350" y="1663953"/>
            <a:ext cx="3989412" cy="260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Art is Everywhere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78350" y="2018898"/>
            <a:ext cx="4446612" cy="34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From book covers to video games, from murals to movie sets — painters are needed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across industries.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78350" y="2476053"/>
            <a:ext cx="3989412" cy="345115"/>
          </a:xfrm>
          <a:prstGeom prst="roundRect">
            <a:avLst>
              <a:gd name="adj" fmla="val 5555"/>
            </a:avLst>
          </a:prstGeom>
          <a:solidFill>
            <a:srgbClr val="7B044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121" y="2571750"/>
            <a:ext cx="191172" cy="1529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2881" y="2529221"/>
            <a:ext cx="4145533" cy="671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global digital art market is growing fast — skills learned today can become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careers tomorrow.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93"/>
            <a:ext cx="8151763" cy="406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🎉</a:t>
            </a:r>
            <a:r>
              <a:rPr lang="en-US" sz="25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Fun Facts About Painting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67519" y="1052661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Amazing facts that show how fascinating the world of painting really is!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379562"/>
            <a:ext cx="1950616" cy="2008808"/>
          </a:xfrm>
          <a:prstGeom prst="roundRect">
            <a:avLst>
              <a:gd name="adj" fmla="val 988"/>
            </a:avLst>
          </a:prstGeom>
          <a:solidFill>
            <a:srgbClr val="433550"/>
          </a:solidFill>
          <a:ln/>
        </p:spPr>
      </p:sp>
      <p:sp>
        <p:nvSpPr>
          <p:cNvPr id="5" name="Shape 3"/>
          <p:cNvSpPr/>
          <p:nvPr/>
        </p:nvSpPr>
        <p:spPr>
          <a:xfrm>
            <a:off x="624557" y="1508001"/>
            <a:ext cx="385390" cy="385390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523" y="1613967"/>
            <a:ext cx="173385" cy="173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557" y="2009775"/>
            <a:ext cx="169373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Mysterious Mona Lisa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4557" y="2280270"/>
            <a:ext cx="169373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</a:t>
            </a:r>
            <a:r>
              <a:rPr lang="en-US" sz="10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Mona Lisa</a:t>
            </a: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has no visible eyebrows, making it one of the most talked-about paintings in history.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3118" y="1379562"/>
            <a:ext cx="1950690" cy="2008808"/>
          </a:xfrm>
          <a:prstGeom prst="roundRect">
            <a:avLst>
              <a:gd name="adj" fmla="val 988"/>
            </a:avLst>
          </a:prstGeom>
          <a:solidFill>
            <a:srgbClr val="433550"/>
          </a:solidFill>
          <a:ln/>
        </p:spPr>
      </p:sp>
      <p:sp>
        <p:nvSpPr>
          <p:cNvPr id="10" name="Shape 7"/>
          <p:cNvSpPr/>
          <p:nvPr/>
        </p:nvSpPr>
        <p:spPr>
          <a:xfrm>
            <a:off x="2691557" y="1508001"/>
            <a:ext cx="385390" cy="385390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7522" y="1613967"/>
            <a:ext cx="173385" cy="173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1557" y="2009775"/>
            <a:ext cx="16938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Van Gogh's Value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91557" y="2280270"/>
            <a:ext cx="16938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Vincent van Gogh sold only </a:t>
            </a:r>
            <a:r>
              <a:rPr lang="en-US" sz="10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one painting</a:t>
            </a: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during his lifetime, but today his artworks are worth millions.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30192" y="1379562"/>
            <a:ext cx="1950616" cy="2008808"/>
          </a:xfrm>
          <a:prstGeom prst="roundRect">
            <a:avLst>
              <a:gd name="adj" fmla="val 988"/>
            </a:avLst>
          </a:prstGeom>
          <a:solidFill>
            <a:srgbClr val="433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4758630" y="1508001"/>
            <a:ext cx="385390" cy="385390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4596" y="1613967"/>
            <a:ext cx="173385" cy="1733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8630" y="2009775"/>
            <a:ext cx="169373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Ancient Art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758630" y="2280270"/>
            <a:ext cx="169373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Some cave paintings are over </a:t>
            </a:r>
            <a:r>
              <a:rPr lang="en-US" sz="10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30,000 years old</a:t>
            </a: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showing painting is one of humanity's oldest forms of communication.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697191" y="1379562"/>
            <a:ext cx="1950690" cy="2008808"/>
          </a:xfrm>
          <a:prstGeom prst="roundRect">
            <a:avLst>
              <a:gd name="adj" fmla="val 988"/>
            </a:avLst>
          </a:prstGeom>
          <a:solidFill>
            <a:srgbClr val="433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6825630" y="1508001"/>
            <a:ext cx="385390" cy="385390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1596" y="1613967"/>
            <a:ext cx="173385" cy="1733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5630" y="2009775"/>
            <a:ext cx="16938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Giant Canvas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25630" y="2280270"/>
            <a:ext cx="16938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largest painting on canvas is more than </a:t>
            </a:r>
            <a:r>
              <a:rPr lang="en-US" sz="10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1,500 square meters</a:t>
            </a: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size — truly massive!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96119" y="3504754"/>
            <a:ext cx="8151763" cy="1225079"/>
          </a:xfrm>
          <a:prstGeom prst="roundRect">
            <a:avLst>
              <a:gd name="adj" fmla="val 1573"/>
            </a:avLst>
          </a:prstGeom>
          <a:solidFill>
            <a:srgbClr val="433550"/>
          </a:solidFill>
          <a:ln/>
        </p:spPr>
      </p:sp>
      <p:sp>
        <p:nvSpPr>
          <p:cNvPr id="25" name="Shape 19"/>
          <p:cNvSpPr/>
          <p:nvPr/>
        </p:nvSpPr>
        <p:spPr>
          <a:xfrm>
            <a:off x="624557" y="3633192"/>
            <a:ext cx="385390" cy="385390"/>
          </a:xfrm>
          <a:prstGeom prst="ellipse">
            <a:avLst/>
          </a:prstGeom>
          <a:solidFill>
            <a:srgbClr val="FF668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523" y="3739158"/>
            <a:ext cx="173385" cy="1733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4557" y="4134966"/>
            <a:ext cx="789488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Concept Art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24557" y="4405461"/>
            <a:ext cx="789488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Many modern movies, animations, and video games begin with </a:t>
            </a:r>
            <a:r>
              <a:rPr lang="en-US" sz="10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digital concept paintings</a:t>
            </a: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Text 1"/>
          <p:cNvSpPr/>
          <p:nvPr/>
        </p:nvSpPr>
        <p:spPr>
          <a:xfrm>
            <a:off x="705445" y="720179"/>
            <a:ext cx="4513436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"Every masterpiece begins with a single brushstroke."</a:t>
            </a:r>
            <a:endParaRPr lang="en-US" sz="2150" dirty="0"/>
          </a:p>
        </p:txBody>
      </p:sp>
      <p:sp>
        <p:nvSpPr>
          <p:cNvPr id="6" name="Shape 2"/>
          <p:cNvSpPr/>
          <p:nvPr/>
        </p:nvSpPr>
        <p:spPr>
          <a:xfrm>
            <a:off x="496119" y="514127"/>
            <a:ext cx="19050" cy="1109811"/>
          </a:xfrm>
          <a:prstGeom prst="roundRect">
            <a:avLst>
              <a:gd name="adj" fmla="val 50000"/>
            </a:avLst>
          </a:prstGeom>
          <a:solidFill>
            <a:srgbClr val="F94CAF"/>
          </a:solidFill>
          <a:ln/>
        </p:spPr>
      </p:sp>
      <p:sp>
        <p:nvSpPr>
          <p:cNvPr id="7" name="Text 3"/>
          <p:cNvSpPr/>
          <p:nvPr/>
        </p:nvSpPr>
        <p:spPr>
          <a:xfrm>
            <a:off x="496119" y="1778422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Whether you dream of galleries, game studios, or designing the world around you — </a:t>
            </a:r>
            <a:r>
              <a:rPr lang="en-US" sz="10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art is a powerful profession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worth exploring.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96119" y="2375818"/>
            <a:ext cx="4722763" cy="1611362"/>
          </a:xfrm>
          <a:prstGeom prst="roundRect">
            <a:avLst>
              <a:gd name="adj" fmla="val 1299"/>
            </a:avLst>
          </a:prstGeom>
          <a:solidFill>
            <a:srgbClr val="433550"/>
          </a:solidFill>
          <a:ln/>
        </p:spPr>
      </p:sp>
      <p:sp>
        <p:nvSpPr>
          <p:cNvPr id="9" name="Shape 5"/>
          <p:cNvSpPr/>
          <p:nvPr/>
        </p:nvSpPr>
        <p:spPr>
          <a:xfrm>
            <a:off x="496119" y="2375818"/>
            <a:ext cx="2361381" cy="805681"/>
          </a:xfrm>
          <a:custGeom>
            <a:avLst/>
            <a:gdLst/>
            <a:ahLst/>
            <a:cxnLst/>
            <a:rect l="l" t="t" r="r" b="b"/>
            <a:pathLst>
              <a:path w="2361381" h="805681">
                <a:moveTo>
                  <a:pt x="17444" y="0"/>
                </a:moveTo>
                <a:lnTo>
                  <a:pt x="2361381" y="0"/>
                </a:lnTo>
                <a:lnTo>
                  <a:pt x="2361381" y="805681"/>
                </a:lnTo>
                <a:lnTo>
                  <a:pt x="0" y="805681"/>
                </a:lnTo>
                <a:lnTo>
                  <a:pt x="0" y="17444"/>
                </a:lnTo>
                <a:arcTo wR="17444" hR="17444" stAng="10800000" swAng="5400000"/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10" name="Text 6"/>
          <p:cNvSpPr/>
          <p:nvPr/>
        </p:nvSpPr>
        <p:spPr>
          <a:xfrm>
            <a:off x="635645" y="2515344"/>
            <a:ext cx="2082329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Create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35645" y="2820516"/>
            <a:ext cx="2082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Start with what you love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857500" y="2375818"/>
            <a:ext cx="2361381" cy="805681"/>
          </a:xfrm>
          <a:custGeom>
            <a:avLst/>
            <a:gdLst/>
            <a:ahLst/>
            <a:cxnLst/>
            <a:rect l="l" t="t" r="r" b="b"/>
            <a:pathLst>
              <a:path w="2361381" h="805681">
                <a:moveTo>
                  <a:pt x="0" y="0"/>
                </a:moveTo>
                <a:lnTo>
                  <a:pt x="2343937" y="0"/>
                </a:lnTo>
                <a:arcTo wR="17444" hR="17444" stAng="16200000" swAng="5400000"/>
                <a:lnTo>
                  <a:pt x="2361381" y="805681"/>
                </a:lnTo>
                <a:lnTo>
                  <a:pt x="0" y="805681"/>
                </a:lnTo>
                <a:lnTo>
                  <a:pt x="0" y="0"/>
                </a:lnTo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13" name="Shape 9"/>
          <p:cNvSpPr/>
          <p:nvPr/>
        </p:nvSpPr>
        <p:spPr>
          <a:xfrm>
            <a:off x="2857500" y="2375818"/>
            <a:ext cx="19050" cy="805681"/>
          </a:xfrm>
          <a:prstGeom prst="roundRect">
            <a:avLst>
              <a:gd name="adj" fmla="val 50000"/>
            </a:avLst>
          </a:prstGeom>
          <a:solidFill>
            <a:srgbClr val="5C4E69"/>
          </a:solidFill>
          <a:ln/>
        </p:spPr>
      </p:sp>
      <p:sp>
        <p:nvSpPr>
          <p:cNvPr id="14" name="Text 10"/>
          <p:cNvSpPr/>
          <p:nvPr/>
        </p:nvSpPr>
        <p:spPr>
          <a:xfrm>
            <a:off x="2997026" y="2515344"/>
            <a:ext cx="2082329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Learn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97026" y="2820516"/>
            <a:ext cx="2082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Study the masters, practice daily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6119" y="3181499"/>
            <a:ext cx="4722763" cy="805681"/>
          </a:xfrm>
          <a:custGeom>
            <a:avLst/>
            <a:gdLst/>
            <a:ahLst/>
            <a:cxnLst/>
            <a:rect l="l" t="t" r="r" b="b"/>
            <a:pathLst>
              <a:path w="4722763" h="805681">
                <a:moveTo>
                  <a:pt x="0" y="0"/>
                </a:moveTo>
                <a:lnTo>
                  <a:pt x="4722763" y="0"/>
                </a:lnTo>
                <a:lnTo>
                  <a:pt x="4722763" y="788237"/>
                </a:lnTo>
                <a:arcTo wR="17444" hR="17444" stAng="0" swAng="5400000"/>
                <a:lnTo>
                  <a:pt x="17444" y="805681"/>
                </a:lnTo>
                <a:arcTo wR="17444" hR="17444" stAng="5400000" swAng="5400000"/>
                <a:lnTo>
                  <a:pt x="0" y="0"/>
                </a:lnTo>
                <a:close/>
              </a:path>
            </a:pathLst>
          </a:custGeom>
          <a:solidFill>
            <a:srgbClr val="433550"/>
          </a:solidFill>
          <a:ln/>
        </p:spPr>
      </p:sp>
      <p:sp>
        <p:nvSpPr>
          <p:cNvPr id="17" name="Shape 13"/>
          <p:cNvSpPr/>
          <p:nvPr/>
        </p:nvSpPr>
        <p:spPr>
          <a:xfrm>
            <a:off x="496119" y="3181499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5C4E69"/>
          </a:solidFill>
          <a:ln/>
        </p:spPr>
      </p:sp>
      <p:sp>
        <p:nvSpPr>
          <p:cNvPr id="18" name="Text 14"/>
          <p:cNvSpPr/>
          <p:nvPr/>
        </p:nvSpPr>
        <p:spPr>
          <a:xfrm>
            <a:off x="635645" y="3321025"/>
            <a:ext cx="4443710" cy="22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Share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35645" y="3626197"/>
            <a:ext cx="44437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Show your work to the world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96119" y="4193232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Thank You! Any Questions?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42</TotalTime>
  <Words>706</Words>
  <Application>Microsoft Office PowerPoint</Application>
  <PresentationFormat>On-screen Show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Fira Sans Bold</vt:lpstr>
      <vt:lpstr>Neue Haas Grotesk Text Pro</vt:lpstr>
      <vt:lpstr>Fira Sans</vt:lpstr>
      <vt:lpstr>Inconsolata Bold</vt:lpstr>
      <vt:lpstr>Arial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Pankaj Deharia</cp:lastModifiedBy>
  <cp:revision>4</cp:revision>
  <dcterms:created xsi:type="dcterms:W3CDTF">2026-08-04T14:30:39Z</dcterms:created>
  <dcterms:modified xsi:type="dcterms:W3CDTF">2026-08-04T15:13:23Z</dcterms:modified>
</cp:coreProperties>
</file>